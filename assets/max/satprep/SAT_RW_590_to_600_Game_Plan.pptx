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979e53d75444f2" /><Relationship Type="http://schemas.openxmlformats.org/officeDocument/2006/relationships/extended-properties" Target="/docProps/app.xml" Id="R84effd8e99b14ab5" /><Relationship Type="http://schemas.openxmlformats.org/officeDocument/2006/relationships/officeDocument" Target="/ppt/presentation.xml" Id="R07185e51bd8e43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108fcac2b4972"/>
  </p:sldMasterIdLst>
  <p:notesMasterIdLst>
    <p:notesMasterId xmlns:r="http://schemas.openxmlformats.org/officeDocument/2006/relationships" r:id="Ra82691c48e574009"/>
  </p:notesMasterIdLst>
  <p:sldIdLst>
    <p:sldId xmlns:r="http://schemas.openxmlformats.org/officeDocument/2006/relationships" id="256" r:id="R1c02041110fd4538"/>
    <p:sldId xmlns:r="http://schemas.openxmlformats.org/officeDocument/2006/relationships" id="257" r:id="R73ece38a3a3b412f"/>
    <p:sldId xmlns:r="http://schemas.openxmlformats.org/officeDocument/2006/relationships" id="258" r:id="R729468d541a348cc"/>
    <p:sldId xmlns:r="http://schemas.openxmlformats.org/officeDocument/2006/relationships" id="259" r:id="R8e5b85af9e974366"/>
    <p:sldId xmlns:r="http://schemas.openxmlformats.org/officeDocument/2006/relationships" id="260" r:id="R6a5d42a1e9c449c4"/>
    <p:sldId xmlns:r="http://schemas.openxmlformats.org/officeDocument/2006/relationships" id="261" r:id="Rbd89c38c64ab43b6"/>
    <p:sldId xmlns:r="http://schemas.openxmlformats.org/officeDocument/2006/relationships" id="262" r:id="R00c2a97f24ca4d85"/>
    <p:sldId xmlns:r="http://schemas.openxmlformats.org/officeDocument/2006/relationships" id="263" r:id="Rd13655a1ea644b9c"/>
    <p:sldId xmlns:r="http://schemas.openxmlformats.org/officeDocument/2006/relationships" id="264" r:id="R2d36bb13ec6f4798"/>
    <p:sldId xmlns:r="http://schemas.openxmlformats.org/officeDocument/2006/relationships" id="265" r:id="Re45613daa1d246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622224574b4fc8" /><Relationship Type="http://schemas.openxmlformats.org/officeDocument/2006/relationships/slideMaster" Target="/ppt/slideMasters/slideMaster1.xml" Id="Rbbf108fcac2b4972" /><Relationship Type="http://schemas.openxmlformats.org/officeDocument/2006/relationships/notesMaster" Target="/ppt/notesMasters/notesMaster1.xml" Id="Ra82691c48e574009" /><Relationship Type="http://schemas.openxmlformats.org/officeDocument/2006/relationships/presProps" Target="/ppt/presProps.xml" Id="R1a174feb893f4851" /><Relationship Type="http://schemas.openxmlformats.org/officeDocument/2006/relationships/tableStyles" Target="/ppt/tableStyles.xml" Id="R82e020f3b6d8468b" /><Relationship Type="http://schemas.openxmlformats.org/officeDocument/2006/relationships/slide" Target="/ppt/slides/slide1.xml" Id="R1c02041110fd4538" /><Relationship Type="http://schemas.openxmlformats.org/officeDocument/2006/relationships/slide" Target="/ppt/slides/slide2.xml" Id="R73ece38a3a3b412f" /><Relationship Type="http://schemas.openxmlformats.org/officeDocument/2006/relationships/slide" Target="/ppt/slides/slide3.xml" Id="R729468d541a348cc" /><Relationship Type="http://schemas.openxmlformats.org/officeDocument/2006/relationships/slide" Target="/ppt/slides/slide4.xml" Id="R8e5b85af9e974366" /><Relationship Type="http://schemas.openxmlformats.org/officeDocument/2006/relationships/slide" Target="/ppt/slides/slide5.xml" Id="R6a5d42a1e9c449c4" /><Relationship Type="http://schemas.openxmlformats.org/officeDocument/2006/relationships/slide" Target="/ppt/slides/slide6.xml" Id="Rbd89c38c64ab43b6" /><Relationship Type="http://schemas.openxmlformats.org/officeDocument/2006/relationships/slide" Target="/ppt/slides/slide7.xml" Id="R00c2a97f24ca4d85" /><Relationship Type="http://schemas.openxmlformats.org/officeDocument/2006/relationships/slide" Target="/ppt/slides/slide8.xml" Id="Rd13655a1ea644b9c" /><Relationship Type="http://schemas.openxmlformats.org/officeDocument/2006/relationships/slide" Target="/ppt/slides/slide9.xml" Id="R2d36bb13ec6f4798" /><Relationship Type="http://schemas.openxmlformats.org/officeDocument/2006/relationships/slide" Target="/ppt/slides/slide10.xml" Id="Re45613daa1d246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18682be9c545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2c1b6e90604451" /><Relationship Type="http://schemas.openxmlformats.org/officeDocument/2006/relationships/notesMaster" Target="/ppt/notesMasters/notesMaster1.xml" Id="R494e8c1452214a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20bbf009c648b9" /><Relationship Type="http://schemas.openxmlformats.org/officeDocument/2006/relationships/notesMaster" Target="/ppt/notesMasters/notesMaster1.xml" Id="R26d1b530160a4b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ab9240e9fc44a7" /><Relationship Type="http://schemas.openxmlformats.org/officeDocument/2006/relationships/notesMaster" Target="/ppt/notesMasters/notesMaster1.xml" Id="R6df73fba478d4f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ddba105e664f06" /><Relationship Type="http://schemas.openxmlformats.org/officeDocument/2006/relationships/notesMaster" Target="/ppt/notesMasters/notesMaster1.xml" Id="Rbf6bd3863677446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8e57dd9a1d4e52" /><Relationship Type="http://schemas.openxmlformats.org/officeDocument/2006/relationships/notesMaster" Target="/ppt/notesMasters/notesMaster1.xml" Id="R6fdeb7c8a2eb40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a04421da384302" /><Relationship Type="http://schemas.openxmlformats.org/officeDocument/2006/relationships/notesMaster" Target="/ppt/notesMasters/notesMaster1.xml" Id="R6966dc0309d64e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642f8237c54f1d" /><Relationship Type="http://schemas.openxmlformats.org/officeDocument/2006/relationships/notesMaster" Target="/ppt/notesMasters/notesMaster1.xml" Id="Rfcacbba28a1a45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a27cc1f9cf424f" /><Relationship Type="http://schemas.openxmlformats.org/officeDocument/2006/relationships/notesMaster" Target="/ppt/notesMasters/notesMaster1.xml" Id="R3efb7e95aac24e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7150a4c07a4ff9" /><Relationship Type="http://schemas.openxmlformats.org/officeDocument/2006/relationships/notesMaster" Target="/ppt/notesMasters/notesMaster1.xml" Id="R1584427622f142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0f5bccf0fc453b" /><Relationship Type="http://schemas.openxmlformats.org/officeDocument/2006/relationships/notesMaster" Target="/ppt/notesMasters/notesMaster1.xml" Id="R90a3b0a3e8b5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College Board score report screenshots and corrected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64469cc2247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02b85cb8cb45b3" /><Relationship Type="http://schemas.openxmlformats.org/officeDocument/2006/relationships/slideLayout" Target="/ppt/slideLayouts/slideLayout1.xml" Id="R4c289e63a6b84e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289e63a6b84e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f28dddf9f4979" /><Relationship Type="http://schemas.openxmlformats.org/officeDocument/2006/relationships/notesSlide" Target="/ppt/notesSlides/notesSlide1.xml" Id="Ra671357fa6574d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32780f6b549b3" /><Relationship Type="http://schemas.openxmlformats.org/officeDocument/2006/relationships/notesSlide" Target="/ppt/notesSlides/notesSlide2.xml" Id="Re61aed792e104a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71e663d624c19" /><Relationship Type="http://schemas.openxmlformats.org/officeDocument/2006/relationships/notesSlide" Target="/ppt/notesSlides/notesSlide3.xml" Id="R3708644f64d143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e23656fc54dfe" /><Relationship Type="http://schemas.openxmlformats.org/officeDocument/2006/relationships/notesSlide" Target="/ppt/notesSlides/notesSlide4.xml" Id="Reac68a50e23a48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e89188aaa45ff" /><Relationship Type="http://schemas.openxmlformats.org/officeDocument/2006/relationships/notesSlide" Target="/ppt/notesSlides/notesSlide5.xml" Id="Rc6be5885ccd745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2ef35b9594dd0" /><Relationship Type="http://schemas.openxmlformats.org/officeDocument/2006/relationships/notesSlide" Target="/ppt/notesSlides/notesSlide6.xml" Id="Rf01c2ba5079540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cce0ed46a4b08" /><Relationship Type="http://schemas.openxmlformats.org/officeDocument/2006/relationships/notesSlide" Target="/ppt/notesSlides/notesSlide7.xml" Id="Rf58c8cf2f9924d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9d7554d1a44c9" /><Relationship Type="http://schemas.openxmlformats.org/officeDocument/2006/relationships/notesSlide" Target="/ppt/notesSlides/notesSlide8.xml" Id="Rfd0106a3ad564f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c8b24cf724dcb" /><Relationship Type="http://schemas.openxmlformats.org/officeDocument/2006/relationships/notesSlide" Target="/ppt/notesSlides/notesSlide9.xml" Id="R8d3067931b14435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dae2098ee4f31" /><Relationship Type="http://schemas.openxmlformats.org/officeDocument/2006/relationships/notesSlide" Target="/ppt/notesSlides/notesSlide10.xml" Id="R1902178b6dc542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A2769-1E10-4890-89EA-5D453D5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B2180-70D0-4851-A8A7-45D1E9B0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3BF1F-A2BE-4208-BB08-77BB916F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953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6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06807-67C4-43A2-B6D2-8AF6F89F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1239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58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39A1A-4469-4023-8B19-F6528AD9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CURRENT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7F7D2-B2B9-4A21-BA8C-BD2730BF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241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00880-0760-46A2-BB95-33B5001F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SAT Reading and Writing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23415-6646-47BF-8D5C-D5F73E92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590 → 600+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Game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7CD16-C6EB-4F33-B978-19D3831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A two-day strategy for cleaner grammar, stronger evidence, and calmer execution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7011C-0CB1-4AE5-84C0-20E0154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6191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642D9-F9CA-4230-8F78-73D0EFB0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USE THIS ONCE. DRILL THE CARDS. CARRY THE PLAYBOOK.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48401-6669-41D8-AAC2-21FFE41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769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FB6C8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9FB6C8"/>
                </a:solidFill>
                <a:latin typeface="DejaVu Sans"/>
                <a:ea typeface="DejaVu Sans"/>
                <a:cs typeface="DejaVu Sans"/>
              </a:rPr>
              <a:t>Student edition</a:t>
            </a:r>
          </a:p>
        </p:txBody>
      </p:sp>
    </p:spTree>
    <p:extLst>
      <p:ext uri="{BB962C8B-B14F-4D97-AF65-F5344CB8AC3E}">
        <p14:creationId xmlns:p14="http://schemas.microsoft.com/office/powerpoint/2010/main" val="911298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512FCB-11EA-4AA6-BFD5-4DD7697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A5F32-6ECF-4925-8278-232F2053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3F092-7696-4180-83F3-978E9C14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89A6D-39E1-4169-B404-60F3C089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Your score profile is moving in the right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78BB8-DD78-4C79-B5C5-3893045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The reading gains are real. Grammar became the clearest short-term opportunity.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2F72F-3D84-457A-940C-2866DCC9E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60949-F080-419D-BD09-58C556BD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8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TEST 1  •  580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52005-95E1-49B1-A75E-A7233C00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81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TEST 2  •  590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E0133-0F73-4146-AE8A-4679F9A8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81180-5702-4AE1-ABED-6D7716B6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050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Information &amp; Ideas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AFF71-5066-46FF-A415-51736F7C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490–540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8485C-BD11-4150-863D-EDF58137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14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610–670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E34B41-70B2-4799-8437-D004FB63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81225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391995-3698-4213-B676-51CDD723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00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MAJOR GAIN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C3403-109B-4FEC-92F8-1E5195F2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92891-E69C-4636-A7D4-A18B801C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575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Craft &amp; Structure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2D157-EC99-4710-812E-667E3279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490–540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B15723-207D-47FF-88C1-C43BE748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67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D6EF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D6EFD"/>
                </a:solidFill>
                <a:latin typeface="DejaVu Sans"/>
                <a:ea typeface="DejaVu Sans"/>
                <a:cs typeface="DejaVu Sans"/>
              </a:rPr>
              <a:t>550–600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6FB1B2-31A9-43F2-9EA3-20118640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6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A26386-84E8-4C06-8961-1E8A379F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52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8C59B-F261-4FF4-98A4-2C6EA0A0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11E63-F0DC-4633-ABDE-E18D6394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Expression of Ideas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084D7-CAE0-4106-91B1-A1358361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680–800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05174-94EF-454D-AB52-8CF295F6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195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9F1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9F1C"/>
                </a:solidFill>
                <a:latin typeface="DejaVu Sans"/>
                <a:ea typeface="DejaVu Sans"/>
                <a:cs typeface="DejaVu Sans"/>
              </a:rPr>
              <a:t>610–670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1C925-3112-44E0-B393-12FC26F8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86225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43853-3083-4A1B-B657-AF96D69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052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STILL STRONG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D871E-C3EA-4E1C-BC33-C1D8505E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D9D97B-A0D1-4F68-849E-8EAE96BA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62525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Standard English Conventions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B9E43-FCB4-477C-AFA0-45566F1C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72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550–600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8030B9-7A16-4040-A6F0-3F33A650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720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490–540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C190C6-60AD-418E-AF32-CAF024D1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38725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BD76BD-4553-4CB8-A1FD-89B134AC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0577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PRIORITY</a:t>
            </a:r>
          </a:p>
        </p:txBody>
      </p:sp>
    </p:spTree>
    <p:extLst>
      <p:ext uri="{BB962C8B-B14F-4D97-AF65-F5344CB8AC3E}">
        <p14:creationId xmlns:p14="http://schemas.microsoft.com/office/powerpoint/2010/main" val="19137744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18818-97A8-41B0-8AF5-4C0BB042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A723E-57D1-406B-A476-7214C5B0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06DC4-2BBC-4607-86A8-07339502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51B73-9A9F-4752-BF05-772A793C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The mission for this weekend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1C186-FB9F-489D-82FA-507956E18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Keep the reading improvement. Stop giving points back in grammar and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5CBBB-32F8-49B3-9129-D9B4BB3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990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0ED97-86E9-40B8-907D-A8076FAD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1095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85EB7-E8B5-421E-82D5-610E0F11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8595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F4896-67DA-4119-B75F-9F270C4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Make grammar reliable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2B889-D243-4D13-974D-EE472135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241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Turn repeatable rules into banked points.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3AA89-0D9C-414D-A442-B3AA7347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990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2781D-149F-480B-B7A6-87C8D34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76575"/>
            <a:ext cx="1095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39E862-E007-4EFD-8A22-F466ECA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0040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3AA01-5283-4CFC-80F9-49631431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194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Preserve the reading gains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5B920-075B-482B-AA44-54538853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Use the same approach, plus stricter textual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7C24B-6CE7-4745-AD75-CD4E2B7F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99060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1D8A9-3E99-4121-B7B6-1C1FDA32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91025"/>
            <a:ext cx="1095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D6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5F7AA-A157-4CB6-B231-B7DC66A4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14850"/>
            <a:ext cx="619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90068-6B6A-4D41-A121-DB23E0FC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339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Control the clock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74B5A-2B56-45FA-9537-59F8FE38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530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At 90 seconds, choose, flag, and move.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583985-E485-4FDC-84FE-633D899D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91200"/>
            <a:ext cx="9906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3CC35-680C-4109-8CFC-9E3789FF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483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4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7A4B00"/>
                </a:solidFill>
                <a:latin typeface="DejaVu Sans"/>
                <a:ea typeface="DejaVu Sans"/>
                <a:cs typeface="DejaVu Sans"/>
              </a:rPr>
              <a:t>The test does not require every hard question. It rewards control of the questions you can solve.</a:t>
            </a:r>
          </a:p>
        </p:txBody>
      </p:sp>
    </p:spTree>
    <p:extLst>
      <p:ext uri="{BB962C8B-B14F-4D97-AF65-F5344CB8AC3E}">
        <p14:creationId xmlns:p14="http://schemas.microsoft.com/office/powerpoint/2010/main" val="1814511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4041A6-7112-4DA5-BF74-DA8155C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A684A-0645-4E09-9DFC-F72E5259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A2EC2-B031-4AF5-B687-919C1D0E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65D62-C2E5-4C39-A5DE-B2E8D74D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Where to spend the remaining prep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DBD28-3302-4DDC-8823-DFA97E86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Attack the leaking bucket without resetting what already works.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0DB93-F50B-4B44-910B-F04F4E3E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7148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C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F7942-8C69-493C-8D2A-9288382E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4562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D622E-BD30-48CC-B5B5-C3017BE38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45624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Grammar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AE58F9-D786-4CAC-B6CE-6FCD2880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619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00A3CA-CFF7-4BA0-8282-B9FDFFA9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33600"/>
            <a:ext cx="24669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52E74-9039-4FF6-9638-4BCEF7FB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600325"/>
            <a:ext cx="24669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Craft &amp;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F59D8-939E-49C9-8DE1-F045DD5E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2095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5EEA0-997F-4349-AF4C-63531631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1943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FF919-3D93-4173-91E4-6C0ED80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Information &amp; Ideas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7EDD1-EF6F-4B6D-B8E5-076A8D0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00250"/>
            <a:ext cx="1047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0D577-E204-4E42-8F22-37976722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133600"/>
            <a:ext cx="895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7DAB7-4367-473A-9D04-B76CEBA6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00325"/>
            <a:ext cx="895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Expression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3F170F-BB98-4564-A202-7AD438DB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71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45%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83C45-5A16-40D5-8479-2FE002AC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Standard English Conventions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EA224-7E6E-4D66-B8E7-6ADE295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524250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Boundaries, colons, dashes, agreement, modifiers, tense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EB973-9F0F-4D23-A0F7-5B789D6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71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D6EF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D6EFD"/>
                </a:solidFill>
                <a:latin typeface="DejaVu Sans"/>
                <a:ea typeface="DejaVu Sans"/>
                <a:cs typeface="DejaVu Sans"/>
              </a:rPr>
              <a:t>25%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C2832-0F3B-404A-B796-3ADC91EF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767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Craft &amp; Structure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903834-FD50-4326-B3CA-1AF55C73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76700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Words in context, function, and two-text relationships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828BC-E8D8-4E20-A6E5-5F5E1C20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71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5F8CE1-22FE-4762-9E1D-0E7FC4A9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Information &amp; Ideas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02B6F6-EB20-4CD9-98EC-08CA5CD3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629150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Inference, evidence, data, and scope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9A47E8-4BA7-412C-9073-81FAA837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714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9F1C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9F1C"/>
                </a:solidFill>
                <a:latin typeface="DejaVu Sans"/>
                <a:ea typeface="DejaVu Sans"/>
                <a:cs typeface="DejaVu Sans"/>
              </a:rPr>
              <a:t>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23F27-61A0-42CB-AC53-25BF31B2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Expression of Ideas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99FE1E-D21C-4405-A74C-454678F2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181600"/>
            <a:ext cx="633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Maintain transitions and rhetorical synthesis</a:t>
            </a:r>
          </a:p>
        </p:txBody>
      </p:sp>
    </p:spTree>
    <p:extLst>
      <p:ext uri="{BB962C8B-B14F-4D97-AF65-F5344CB8AC3E}">
        <p14:creationId xmlns:p14="http://schemas.microsoft.com/office/powerpoint/2010/main" val="840650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5C149-0A07-4754-9A11-38D8774B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CEDB4-EA21-43AA-96F6-CB4D0E58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5E939-3A71-4C0B-BA88-4EDED9DF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39E63B-11A0-4721-BA28-9EF7BAA0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Grammar starts with sentence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3C064-9852-4D1B-9DDD-C6CA5F4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Do not choose punctuation by sound. Identify what exists on each side of the blank.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737EC-1277-4F93-9939-33498F39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24000"/>
            <a:ext cx="4762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88C9-C17E-47BB-9E36-C38A6C4F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666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sentence on the left?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45DDD-3CAE-4A69-9528-6C798E9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361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9525">
            <a:solidFill>
              <a:srgbClr val="15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97ECB-7491-474D-AE3E-63FE4BE4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76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YES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DB22D-BBFD-4C26-A895-8B71C77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76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Check the right side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0B5F5-727F-479B-8301-A68CE2C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3619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solidFill>
              <a:srgbClr val="FF9F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215CF-7874-4E12-95AF-934ACD4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8765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9F1C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9F1C"/>
                </a:solidFill>
                <a:latin typeface="DejaVu Sans"/>
                <a:ea typeface="DejaVu Sans"/>
                <a:cs typeface="DejaVu Sans"/>
              </a:rPr>
              <a:t>NO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82F1C-DF5B-4E9A-9F81-96A0C87A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76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23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Do not use a colon yet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ECED81-A669-44DF-A8AC-CF70170A1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52875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38D0B-0A46-4437-9424-43659672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43375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6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49285-FD9F-4515-BDA9-6FE4D1A7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624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+ 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16494-5826-4402-A4DD-6945159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55295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Period</a:t>
            </a:r>
          </a:p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Semicolon</a:t>
            </a:r>
          </a:p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Comma + FANBOYS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2E92B-C9FF-4C8C-BAEB-9606DEF1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B4CC6B-AAE6-40F0-8391-84396F0C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12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84741B-DE93-48FB-B579-20575C02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62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+ EXPLANATION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920C7-2BFA-4176-BE10-9F7256A7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96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Colon</a:t>
            </a:r>
          </a:p>
          <a:p xmlns:a="http://schemas.openxmlformats.org/drawingml/2006/main">
            <a:pPr>
              <a:def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Single dash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12DBEB-1A6F-42A7-B948-C4F07CE4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02695-8006-4CED-85B9-5FF50E79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781675"/>
            <a:ext cx="701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7A4B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7A4B00"/>
                </a:solidFill>
                <a:latin typeface="DejaVu Sans"/>
                <a:ea typeface="DejaVu Sans"/>
                <a:cs typeface="DejaVu Sans"/>
              </a:rPr>
              <a:t>SEMICOLON = PERIOD  •  If a period fails, the semicolon fails.</a:t>
            </a:r>
          </a:p>
        </p:txBody>
      </p:sp>
    </p:spTree>
    <p:extLst>
      <p:ext uri="{BB962C8B-B14F-4D97-AF65-F5344CB8AC3E}">
        <p14:creationId xmlns:p14="http://schemas.microsoft.com/office/powerpoint/2010/main" val="918379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828D8-8D2B-49C1-A0BE-7B9B2AAA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AAE8C-9B09-4D25-BA8A-28F08F14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385AE-C5FD-4766-A075-C99EB159C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E939A-689C-48C6-BF72-AAC22197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Reading rewards proof, not plausibility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1C9F7-938C-4716-96EB-F74B8B3D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The strongest upgrade: demand evidence when two answers both sound reasonable.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7FD88-F103-4851-BC13-6B159E86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C96066-2BEE-4C4C-80A0-F760AA5E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180975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2F25E-5D3D-4597-B342-77626645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050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PASSAGE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6C3DA-77BF-4B94-91BA-73F95D1D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28875"/>
            <a:ext cx="4095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Plants receiving Q</a:t>
            </a:r>
          </a:p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produced 18% more</a:t>
            </a:r>
          </a:p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root growth.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A28B66-EA1C-4210-9D8F-34028CDC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Smallest safe conclusion: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CC4A2-013A-4D3C-BEEF-A5B27BC8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Q may promote root growth.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C8BD0-EAB4-40D1-BB22-2375E638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19250"/>
            <a:ext cx="48577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0E52B-6542-4371-898C-B18D8200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85950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7F663-58AA-4310-BC17-3F05D4FD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05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TRAP ADDS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E014E2-1214-480F-943E-BFA80D6B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670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Q is necessary</a:t>
            </a:r>
          </a:p>
          <a:p xmlns:a="http://schemas.openxmlformats.org/drawingml/2006/main">
            <a:pPr>
              <a:def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for root growth.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96AC5C-719F-46B9-A526-E4CEE5EE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81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The passage never proved necessity.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8A88B-24CB-461D-B601-249A3041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76875"/>
            <a:ext cx="8915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7DEFF-1508-4B70-B769-2139B271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8165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Ask: “Could I prove this using only the passage?”</a:t>
            </a:r>
          </a:p>
        </p:txBody>
      </p:sp>
    </p:spTree>
    <p:extLst>
      <p:ext uri="{BB962C8B-B14F-4D97-AF65-F5344CB8AC3E}">
        <p14:creationId xmlns:p14="http://schemas.microsoft.com/office/powerpoint/2010/main" val="1810813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BE802F-0322-4310-80B6-3E34F3B9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C66F8-0B8E-4159-A84D-C027A1AD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2D1B7-1B63-4D50-8FB8-F8BFAB4A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D5381-D225-44CB-8FCE-60BBB34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When two choices remain, hunt for the defect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CBBA2-CBC4-44A1-B6E7-5445B42C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One wrong word can ruin an otherwise attractive answer.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03B35-3259-487C-8771-94E65CD1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44C98-A5B1-4B98-A0FD-B5A07653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some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1F1FF-C090-496C-82CF-F367D136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962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vs.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23A29-3586-426E-8546-2EB1440E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24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6D46A-ADE6-463C-9914-B9E388AE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9D9CE-6B40-4B3E-8E9D-5521AB0F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24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may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5489A-3E19-4910-B25C-BB84B642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621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vs.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B85EA-1D30-4BF3-8222-61C1AF34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240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must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40B49-7062-4770-B7C2-B239455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B09B2-531D-4259-BB00-C9F772C2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14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associated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15CE2-CD94-47E3-BA0F-C775A85B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527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vs.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5EFF0-A9F6-4C5E-BB11-B28F0B06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14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causes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C0A3C-A683-4B6D-AEBC-886AFAB1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05125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04032F-9D47-49F1-B698-F3157AB2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supports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FE045-9C8A-48C6-A8CA-2318F394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1527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vs.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4D5EFF-D960-4C9C-8646-62FFDAA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14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proves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01A8E-E07F-4423-9936-2FC40118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957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E19EE-2EFB-4DAF-A3AA-1DE301ED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one study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B9F8F4-5DE5-4AC7-8D9E-751B6FC7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3434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vs.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382BFA-B685-4C50-9EDA-CD70E20E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05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083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research generally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55A44F-728E-4110-9F86-EE6E73FA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ABF26-0B02-44C7-964E-021598E8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05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describes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B42BC4-FDD6-4A16-83F4-F5AB7986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4340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vs.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4235E-9F77-4B6F-9128-14C88DED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D94C4C"/>
                </a:solidFill>
                <a:latin typeface="DejaVu Sans"/>
                <a:ea typeface="DejaVu Sans"/>
                <a:cs typeface="DejaVu Sans"/>
              </a:rPr>
              <a:t>explains why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EC570F-8BBC-45CD-9239-B6568811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85725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7F238D-1994-4250-AE35-D9DBFE79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911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7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Stop asking “Which sounds better?”  Ask “What specifically makes one wrong?”</a:t>
            </a:r>
          </a:p>
        </p:txBody>
      </p:sp>
    </p:spTree>
    <p:extLst>
      <p:ext uri="{BB962C8B-B14F-4D97-AF65-F5344CB8AC3E}">
        <p14:creationId xmlns:p14="http://schemas.microsoft.com/office/powerpoint/2010/main" val="20292514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041EDA-37AC-49A7-90CA-FA2D9790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D725F1-3749-4995-9A6D-E0F4B89F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F474E-4235-4ADE-9C64-9C94F936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36122-25E7-4AC2-8681-3F61DA2C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Fast playbook by question 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D237D-3E87-46EB-88F1-E07DE95E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Reduce each question to one job before you solve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5C69D-2B63-4B9E-9616-126A0F92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5238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D1D49-A75F-4B7C-9962-0A11A9A0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0975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701FF9-46BD-4060-8FFE-F011BB79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1828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5C4A3-657F-4726-A6E9-B59A7AFB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Smallest conclusion the passage supports.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B389F-A49E-40A6-9CC7-046ABA8F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5238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5D5BBE-B581-4616-9195-B70DCD09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80975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6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C6494-5A15-4C5E-8911-8B3146A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828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01A97-5F5F-4FDB-BE0F-19CF872F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192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02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State the claim. Predict the result that supports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084DB8-0A96-4ED5-9A53-1AC3B644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5238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1AC7D-956B-4FE4-8635-060A7AFC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90875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3E5C9-89D9-4BB8-AC6B-CB853C80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099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GRAPH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173B6D-2702-4794-8537-363C3DEB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200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Title, axes, units, groups, trend, question.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6ACDB-0E9E-44CD-A232-BA6063C7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00375"/>
            <a:ext cx="5238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F0E09-E347-4ED5-8F1B-15975872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90875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B1930-8B99-4A9D-9E75-00766E01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0992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VOCABULARY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6165CA-2299-4AE5-A240-3AA9B694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Predict a simple word before viewing choices.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0BA5F1-74ED-4F1A-B6F8-E412FB3C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5238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B4F5DF-DD02-40AF-986A-B0A19D0A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720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D6E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E5DA1-774A-4E32-8DD5-B4EDA32C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5910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FUNCTION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8DC007-849B-45FE-A5BE-9B3DBFCA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81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Why did the author put this sentence here?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6CE0C-49D0-46DB-8B77-22A9BB0F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81500"/>
            <a:ext cx="5238750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F46E3-8982-44B8-B998-F058E22B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572000"/>
            <a:ext cx="157162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C9E11-9491-4589-92B3-CA281898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910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TWO TEXTS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D8FBCB-B4E0-4ED3-9A55-721304C2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815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Text 1 = X. Text 2 = Y. Compare.</a:t>
            </a:r>
          </a:p>
        </p:txBody>
      </p:sp>
    </p:spTree>
    <p:extLst>
      <p:ext uri="{BB962C8B-B14F-4D97-AF65-F5344CB8AC3E}">
        <p14:creationId xmlns:p14="http://schemas.microsoft.com/office/powerpoint/2010/main" val="19590934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323C5-86F8-4E13-BA0F-CA696CFD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8CC1C-1822-4039-B65C-D06F1DBB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6F984-6EBE-4370-8C0A-60551CEB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C0E53-F929-4199-8B31-A86C2AA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Module strategy changes after the route adapts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6123C-F91B-42AF-BD12-7B68C9C5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Module 1 protects points. A hard Module 2 requires selective harvesting.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815E7-A530-4670-B4D5-4AB1ED28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143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7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75C331-D9D6-47D5-88BE-55D31DED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15240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78EAAC-222D-43CA-A6B0-CD183E35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764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MODULE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4EE6D-F45A-4E4E-9D6F-D6BF5B55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PROTECT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0FDEF-C405-48A4-8A2A-1E5C24FB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Bank transitions and synthesis</a:t>
            </a:r>
          </a:p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Slow down for grammar structure</a:t>
            </a:r>
          </a:p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Use evidence on reading</a:t>
            </a:r>
          </a:p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Save 4–5 minutes for 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ED366-EA45-4330-A54B-D0AC78CE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5143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EE9B6-78DE-4908-97E6-117404E9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57375"/>
            <a:ext cx="2047875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83C182-A0C0-4DB6-8036-0684F07A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76425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HARD MODULE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91DDA1-9E64-46E2-8797-FAD83B02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4315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0B1F33"/>
                </a:solidFill>
                <a:latin typeface="DejaVu Sans"/>
                <a:ea typeface="DejaVu Sans"/>
                <a:cs typeface="DejaVu Sans"/>
              </a:rPr>
              <a:t>HARVEST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947D0-0DB4-4D08-85A0-77844011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Expect dense passages</a:t>
            </a:r>
          </a:p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Ignore unnecessary jargon</a:t>
            </a:r>
          </a:p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Take the hard questions that fit you</a:t>
            </a:r>
          </a:p>
          <a:p xmlns:a="http://schemas.openxmlformats.org/drawingml/2006/main">
            <a:pPr>
              <a:def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8212B"/>
                </a:solidFill>
                <a:latin typeface="DejaVu Sans"/>
                <a:ea typeface="DejaVu Sans"/>
                <a:cs typeface="DejaVu Sans"/>
              </a:rPr>
              <a:t>• Guess intelligently and move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52890-D074-4EB7-97F8-FD94051D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81675"/>
            <a:ext cx="87630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1CA7D-AF1C-41AD-A3D2-F2860B7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483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If Module 2 feels harder: good. Stay calm and keep playing.</a:t>
            </a:r>
          </a:p>
        </p:txBody>
      </p:sp>
    </p:spTree>
    <p:extLst>
      <p:ext uri="{BB962C8B-B14F-4D97-AF65-F5344CB8AC3E}">
        <p14:creationId xmlns:p14="http://schemas.microsoft.com/office/powerpoint/2010/main" val="13362287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F511F-16D6-4154-88DB-D55C684A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8716D-5C5D-4D6A-8B1B-7EEB49E3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0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SAT Reading and Writing Game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065D3B-CFF1-41F2-BFE7-C7C34042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43675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defRPr>
            </a:pPr>
            <a:r>
              <a:rPr sz="750" b="1">
                <a:solidFill>
                  <a:srgbClr val="667482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FC194-235D-4BAD-8264-F0CEE104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SATURDAY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A615C-F46F-4F85-A7D7-EAC2C7AB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1000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Your job is to answer</a:t>
            </a:r>
          </a:p>
          <a:p xmlns:a="http://schemas.openxmlformats.org/drawingml/2006/main">
            <a:pPr>
              <a:def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7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856AF-5B90-4D72-84A5-B04DBD1B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GRAMMAR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9D2DB-F2FF-457C-81D4-D15196B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Structure before sound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637ADE-4D6A-4F36-8A44-94FB377D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385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READING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C6551-64B6-4E3E-A215-667D4C4A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38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Provable before plausible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1FDDE-7962-4BBB-B63A-ECE5049B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B8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5B8A6"/>
                </a:solidFill>
                <a:latin typeface="DejaVu Sans"/>
                <a:ea typeface="DejaVu Sans"/>
                <a:cs typeface="DejaVu Sans"/>
              </a:rPr>
              <a:t>CLOCK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F6FE3-4D98-44F4-BCD3-C747E474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90 seconds, then flag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E61CFB-29EC-4A96-B7B5-2514A5A4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9F1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9F1C"/>
                </a:solidFill>
                <a:latin typeface="DejaVu Sans"/>
                <a:ea typeface="DejaVu Sans"/>
                <a:cs typeface="DejaVu Sans"/>
              </a:rPr>
              <a:t>HARD MODULE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3679A6-C231-40FE-A0C0-89AE5B1F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72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Simplify and harvest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48EFD-4BD8-45A3-BB04-7E1B071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4A6A3-26CA-4526-B1BD-2928F0B2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CE8F2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DCE8F2"/>
                </a:solidFill>
                <a:latin typeface="DejaVu Sans"/>
                <a:ea typeface="DejaVu Sans"/>
                <a:cs typeface="DejaVu Sans"/>
              </a:rPr>
              <a:t>YOU DO NOT NEED TO UNDERSTAND EVERYTHING.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BAF5EF-7AE5-44A8-AF2D-C0486ED5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579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FB6C8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9FB6C8"/>
                </a:solidFill>
                <a:latin typeface="DejaVu Sans"/>
                <a:ea typeface="DejaVu Sans"/>
                <a:cs typeface="DejaVu Sans"/>
              </a:rPr>
              <a:t>Answer everything. Protect the points you can control.</a:t>
            </a:r>
          </a:p>
        </p:txBody>
      </p:sp>
    </p:spTree>
    <p:extLst>
      <p:ext uri="{BB962C8B-B14F-4D97-AF65-F5344CB8AC3E}">
        <p14:creationId xmlns:p14="http://schemas.microsoft.com/office/powerpoint/2010/main" val="20626051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2026-09-22T22:50:15.0960000Z</dcterms:created>
  <dcterms:modified xsi:type="dcterms:W3CDTF">2026-09-22T22:50:15.0960000Z</dcterms:modified>
</coreProperties>
</file>